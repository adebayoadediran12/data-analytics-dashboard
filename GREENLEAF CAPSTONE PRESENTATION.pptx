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3.xml" ContentType="application/vnd.openxmlformats-officedocument.theme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0" r:id="rId1"/>
    <p:sldMasterId id="2147483813" r:id="rId2"/>
    <p:sldMasterId id="2147483831" r:id="rId3"/>
    <p:sldMasterId id="2147483848" r:id="rId4"/>
  </p:sldMasterIdLst>
  <p:notesMasterIdLst>
    <p:notesMasterId r:id="rId15"/>
  </p:notesMasterIdLst>
  <p:sldIdLst>
    <p:sldId id="256" r:id="rId5"/>
    <p:sldId id="270" r:id="rId6"/>
    <p:sldId id="271" r:id="rId7"/>
    <p:sldId id="272" r:id="rId8"/>
    <p:sldId id="273" r:id="rId9"/>
    <p:sldId id="276" r:id="rId10"/>
    <p:sldId id="279" r:id="rId11"/>
    <p:sldId id="277" r:id="rId12"/>
    <p:sldId id="278" r:id="rId13"/>
    <p:sldId id="275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1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3E8C39-B1FA-4D95-A6D1-BE000333C6DE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32B693-8364-4989-9693-7A4C42A8A7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3204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7438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366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1617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831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2487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852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821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83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013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461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9569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247380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7989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470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1798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581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27957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379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3564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2212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54299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76593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67133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06423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73786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89831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50461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70973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385828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5333338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89462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33208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92477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65950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81245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07706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11017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6283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9912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8367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618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37651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51630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7076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03075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317873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50650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2243159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93600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34199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3824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99332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76549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21523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06265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89718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322729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76127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3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5" y="3129280"/>
            <a:ext cx="34010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822152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42402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799"/>
            <a:ext cx="8825658" cy="364066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186311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22840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0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81294640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304921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950957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5307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192214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B072-B040-4FED-A4CB-06A8776CB497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947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20.xml"/><Relationship Id="rId21" Type="http://schemas.openxmlformats.org/officeDocument/2006/relationships/image" Target="../media/image8.png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34.xml"/><Relationship Id="rId2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33.xml"/><Relationship Id="rId20" Type="http://schemas.openxmlformats.org/officeDocument/2006/relationships/image" Target="../media/image7.png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27.xml"/><Relationship Id="rId19" Type="http://schemas.openxmlformats.org/officeDocument/2006/relationships/image" Target="../media/image6.png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Relationship Id="rId22" Type="http://schemas.openxmlformats.org/officeDocument/2006/relationships/image" Target="../media/image9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slideLayout" Target="../slideLayouts/slideLayout47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6.xml"/><Relationship Id="rId17" Type="http://schemas.openxmlformats.org/officeDocument/2006/relationships/theme" Target="../theme/theme3.xml"/><Relationship Id="rId2" Type="http://schemas.openxmlformats.org/officeDocument/2006/relationships/slideLayout" Target="../slideLayouts/slideLayout36.xml"/><Relationship Id="rId16" Type="http://schemas.openxmlformats.org/officeDocument/2006/relationships/slideLayout" Target="../slideLayouts/slideLayout50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Relationship Id="rId14" Type="http://schemas.openxmlformats.org/officeDocument/2006/relationships/slideLayout" Target="../slideLayouts/slideLayout4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8.xml"/><Relationship Id="rId13" Type="http://schemas.openxmlformats.org/officeDocument/2006/relationships/slideLayout" Target="../slideLayouts/slideLayout63.xml"/><Relationship Id="rId18" Type="http://schemas.openxmlformats.org/officeDocument/2006/relationships/theme" Target="../theme/theme4.xml"/><Relationship Id="rId3" Type="http://schemas.openxmlformats.org/officeDocument/2006/relationships/slideLayout" Target="../slideLayouts/slideLayout53.xml"/><Relationship Id="rId21" Type="http://schemas.openxmlformats.org/officeDocument/2006/relationships/image" Target="../media/image12.png"/><Relationship Id="rId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62.xml"/><Relationship Id="rId17" Type="http://schemas.openxmlformats.org/officeDocument/2006/relationships/slideLayout" Target="../slideLayouts/slideLayout67.xml"/><Relationship Id="rId2" Type="http://schemas.openxmlformats.org/officeDocument/2006/relationships/slideLayout" Target="../slideLayouts/slideLayout52.xml"/><Relationship Id="rId16" Type="http://schemas.openxmlformats.org/officeDocument/2006/relationships/slideLayout" Target="../slideLayouts/slideLayout66.xml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61.xml"/><Relationship Id="rId5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65.xml"/><Relationship Id="rId10" Type="http://schemas.openxmlformats.org/officeDocument/2006/relationships/slideLayout" Target="../slideLayouts/slideLayout60.xml"/><Relationship Id="rId19" Type="http://schemas.openxmlformats.org/officeDocument/2006/relationships/image" Target="../media/image10.png"/><Relationship Id="rId4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9.xml"/><Relationship Id="rId14" Type="http://schemas.openxmlformats.org/officeDocument/2006/relationships/slideLayout" Target="../slideLayouts/slideLayout64.xml"/><Relationship Id="rId22" Type="http://schemas.openxmlformats.org/officeDocument/2006/relationships/image" Target="../media/image1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7FE5B072-B040-4FED-A4CB-06A8776CB497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10100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  <p:sldLayoutId id="2147483772" r:id="rId12"/>
    <p:sldLayoutId id="2147483773" r:id="rId13"/>
    <p:sldLayoutId id="2147483774" r:id="rId14"/>
    <p:sldLayoutId id="2147483775" r:id="rId15"/>
    <p:sldLayoutId id="2147483776" r:id="rId16"/>
    <p:sldLayoutId id="21474837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7000"/>
                </a:schemeClr>
              </a:gs>
              <a:gs pos="69000">
                <a:schemeClr val="accent1">
                  <a:lumMod val="60000"/>
                  <a:lumOff val="40000"/>
                  <a:alpha val="0"/>
                </a:schemeClr>
              </a:gs>
              <a:gs pos="36000">
                <a:schemeClr val="accent1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13"/>
          <a:stretch/>
        </p:blipFill>
        <p:spPr>
          <a:xfrm>
            <a:off x="8000197" y="0"/>
            <a:ext cx="1603387" cy="1143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199"/>
          <a:stretch/>
        </p:blipFill>
        <p:spPr>
          <a:xfrm>
            <a:off x="8609012" y="6092866"/>
            <a:ext cx="993734" cy="765134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7FE5B072-B040-4FED-A4CB-06A8776CB497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40694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14" r:id="rId1"/>
    <p:sldLayoutId id="2147483815" r:id="rId2"/>
    <p:sldLayoutId id="2147483816" r:id="rId3"/>
    <p:sldLayoutId id="2147483817" r:id="rId4"/>
    <p:sldLayoutId id="2147483818" r:id="rId5"/>
    <p:sldLayoutId id="2147483819" r:id="rId6"/>
    <p:sldLayoutId id="2147483820" r:id="rId7"/>
    <p:sldLayoutId id="2147483821" r:id="rId8"/>
    <p:sldLayoutId id="2147483822" r:id="rId9"/>
    <p:sldLayoutId id="2147483823" r:id="rId10"/>
    <p:sldLayoutId id="2147483824" r:id="rId11"/>
    <p:sldLayoutId id="2147483825" r:id="rId12"/>
    <p:sldLayoutId id="2147483826" r:id="rId13"/>
    <p:sldLayoutId id="2147483827" r:id="rId14"/>
    <p:sldLayoutId id="2147483828" r:id="rId15"/>
    <p:sldLayoutId id="2147483829" r:id="rId16"/>
    <p:sldLayoutId id="2147483830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E5B072-B040-4FED-A4CB-06A8776CB497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46411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  <p:sldLayoutId id="2147483843" r:id="rId12"/>
    <p:sldLayoutId id="2147483844" r:id="rId13"/>
    <p:sldLayoutId id="2147483845" r:id="rId14"/>
    <p:sldLayoutId id="2147483846" r:id="rId15"/>
    <p:sldLayoutId id="214748384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4"/>
          <a:stretch/>
        </p:blipFill>
        <p:spPr>
          <a:xfrm>
            <a:off x="0" y="2669685"/>
            <a:ext cx="4035669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7FE5B072-B040-4FED-A4CB-06A8776CB497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936722-76A8-41FB-A4AA-CB7AC6E40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22755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49" r:id="rId1"/>
    <p:sldLayoutId id="2147483850" r:id="rId2"/>
    <p:sldLayoutId id="2147483851" r:id="rId3"/>
    <p:sldLayoutId id="2147483852" r:id="rId4"/>
    <p:sldLayoutId id="2147483853" r:id="rId5"/>
    <p:sldLayoutId id="2147483854" r:id="rId6"/>
    <p:sldLayoutId id="2147483855" r:id="rId7"/>
    <p:sldLayoutId id="2147483856" r:id="rId8"/>
    <p:sldLayoutId id="2147483857" r:id="rId9"/>
    <p:sldLayoutId id="2147483858" r:id="rId10"/>
    <p:sldLayoutId id="2147483859" r:id="rId11"/>
    <p:sldLayoutId id="2147483860" r:id="rId12"/>
    <p:sldLayoutId id="2147483861" r:id="rId13"/>
    <p:sldLayoutId id="2147483862" r:id="rId14"/>
    <p:sldLayoutId id="2147483863" r:id="rId15"/>
    <p:sldLayoutId id="2147483864" r:id="rId16"/>
    <p:sldLayoutId id="214748386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3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3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3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6F33F-7BE0-6A6B-A81C-4107C0D0C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87731"/>
            <a:ext cx="12191999" cy="204493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b="1" dirty="0">
                <a:solidFill>
                  <a:srgbClr val="00B050"/>
                </a:solidFill>
                <a:latin typeface="Georgia" panose="02040502050405020303" pitchFamily="18" charset="0"/>
              </a:rPr>
              <a:t>GREENLEAF PROJECT BY ADEBAYO ADEDIRAN DAVID</a:t>
            </a:r>
            <a:endParaRPr lang="en-US" sz="3600" b="1" kern="1200" dirty="0">
              <a:solidFill>
                <a:srgbClr val="00B050"/>
              </a:solidFill>
              <a:latin typeface="Georgia" panose="02040502050405020303" pitchFamily="18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2505497-8309-EC31-702C-04438928BB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10200" y="400051"/>
            <a:ext cx="6372225" cy="780357"/>
          </a:xfrm>
        </p:spPr>
        <p:txBody>
          <a:bodyPr>
            <a:normAutofit fontScale="40000" lnSpcReduction="20000"/>
          </a:bodyPr>
          <a:lstStyle/>
          <a:p>
            <a:pPr lvl="1"/>
            <a:endParaRPr lang="en-US" sz="2800" dirty="0">
              <a:latin typeface="Georgia" panose="02040502050405020303" pitchFamily="18" charset="0"/>
            </a:endParaRPr>
          </a:p>
          <a:p>
            <a:pPr lvl="1"/>
            <a:endParaRPr lang="en-US" sz="2800" dirty="0">
              <a:latin typeface="Georgia" panose="02040502050405020303" pitchFamily="18" charset="0"/>
            </a:endParaRPr>
          </a:p>
          <a:p>
            <a:pPr marL="457200" lvl="1" indent="0">
              <a:buNone/>
            </a:pPr>
            <a:r>
              <a:rPr lang="en-US" sz="2800" dirty="0">
                <a:latin typeface="Georgia" panose="02040502050405020303" pitchFamily="18" charset="0"/>
              </a:rPr>
              <a:t>			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813D700-AD5D-622E-FE06-18B5A90C37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08" r="7108"/>
          <a:stretch/>
        </p:blipFill>
        <p:spPr>
          <a:xfrm>
            <a:off x="10224654" y="0"/>
            <a:ext cx="1216429" cy="1180408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1731082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ADEB2-2C9D-7FC7-85BE-F4FD0465A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2000" y="609600"/>
            <a:ext cx="6766560" cy="13208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dirty="0"/>
              <a:t>OVERVIEW OF GREENLEAF BUSINESS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FC92E35-D167-F707-C489-B7188B827C9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991360" y="1513840"/>
            <a:ext cx="9987281" cy="514096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marL="0" indent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</a:pPr>
            <a:endParaRPr kumimoji="0" lang="en-US" altLang="en-US" sz="7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altLang="en-US" sz="700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kumimoji="0" lang="en-US" altLang="en-US" sz="7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altLang="en-US" sz="700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GreenLeaf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Stores was started in 2024 to make eco-friendly living easy and cheap for everyone. </a:t>
            </a:r>
          </a:p>
          <a:p>
            <a:pPr marL="0" indent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</a:pPr>
            <a:endParaRPr kumimoji="0" lang="en-US" altLang="en-US" sz="22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company saw that eco-conscious people in the U.S. wanted more eco-friendly home goods, like recyclable cleaning products, solar-powered lights, and tote bags that can be used more than once.</a:t>
            </a:r>
          </a:p>
          <a:p>
            <a:pPr marL="0" indent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</a:pPr>
            <a:endParaRPr lang="en-US" altLang="en-US" sz="2200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GreenLeaf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was started by people who cared about the environment and knew how to run a business.</a:t>
            </a:r>
          </a:p>
          <a:p>
            <a:pPr marL="0" indent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</a:pPr>
            <a:endParaRPr lang="en-US" altLang="en-US" sz="2200" dirty="0"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They made it a fully digital store so that they could reach customers all over the country and cut down on real retail waste.</a:t>
            </a:r>
          </a:p>
          <a:p>
            <a:pPr marL="0" indent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</a:pP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br>
              <a:rPr kumimoji="0" lang="en-US" altLang="en-US" sz="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endParaRPr kumimoji="0" lang="en-US" altLang="en-US" sz="7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</a:pPr>
            <a:endParaRPr kumimoji="0" lang="en-US" altLang="en-US" sz="7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</a:pPr>
            <a:endParaRPr lang="en-US" altLang="en-US" sz="7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</a:pPr>
            <a:endParaRPr kumimoji="0" lang="en-US" altLang="en-US" sz="7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</a:pPr>
            <a:endParaRPr lang="en-US" altLang="en-US" sz="7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</a:pPr>
            <a:endParaRPr kumimoji="0" lang="en-US" altLang="en-US" sz="7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</a:pPr>
            <a:endParaRPr lang="en-US" altLang="en-US" sz="7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</a:pPr>
            <a:endParaRPr kumimoji="0" lang="en-US" altLang="en-US" sz="7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27FE99E-4C2A-D167-A80B-40E986BB65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08" r="7108"/>
          <a:stretch/>
        </p:blipFill>
        <p:spPr>
          <a:xfrm>
            <a:off x="21" y="-1"/>
            <a:ext cx="1798299" cy="151384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6551731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nd holding keys">
            <a:extLst>
              <a:ext uri="{FF2B5EF4-FFF2-40B4-BE49-F238E27FC236}">
                <a16:creationId xmlns:a16="http://schemas.microsoft.com/office/drawing/2014/main" id="{332AF4B2-F4C4-F4DE-706C-515A4946602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t="13309" b="2421"/>
          <a:stretch>
            <a:fillRect/>
          </a:stretch>
        </p:blipFill>
        <p:spPr>
          <a:xfrm>
            <a:off x="20" y="-1"/>
            <a:ext cx="1219198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EC49F8-4035-4A22-716E-0F9A2D9E3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</p:spPr>
        <p:txBody>
          <a:bodyPr>
            <a:normAutofit/>
          </a:bodyPr>
          <a:lstStyle/>
          <a:p>
            <a:r>
              <a:rPr lang="en-US"/>
              <a:t>KEY CHARACTERISTICS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D187C4E-14B9-4504-B200-5127823FA7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53A476C-FF9B-40D6-6AB3-FA5E92C7C1C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7360" y="1143000"/>
            <a:ext cx="11724620" cy="5156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fontScale="70000" lnSpcReduction="20000"/>
          </a:bodyPr>
          <a:lstStyle/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lang="en-US" altLang="en-US" sz="500" dirty="0"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lang="en-US" altLang="en-US" sz="500" dirty="0"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lang="en-US" altLang="en-US" sz="500" dirty="0"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lang="en-US" altLang="en-US" sz="500" dirty="0"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5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</a:pPr>
            <a:r>
              <a:rPr kumimoji="0" lang="en-US" altLang="en-US" sz="29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Product Focus: Sustainable, reusable, non-toxic, and environmentally friendly home goods.</a:t>
            </a:r>
          </a:p>
          <a:p>
            <a:pPr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</a:pPr>
            <a:r>
              <a:rPr kumimoji="0" lang="en-US" altLang="en-US" sz="29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Target Market: Ten U.S. states' worth of environmentally conscious consumers, particularly millennials and Gen Z.</a:t>
            </a:r>
          </a:p>
          <a:p>
            <a:pPr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</a:pPr>
            <a:r>
              <a:rPr kumimoji="0" lang="en-US" altLang="en-US" sz="29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Early Success: Orders increased quickly in the first year, indicating high market demand.</a:t>
            </a:r>
          </a:p>
          <a:p>
            <a:pPr marL="0" indent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endParaRPr lang="en-US" alt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kumimoji="0" lang="en-US" altLang="en-US" sz="29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CURRENT CHALLENGE</a:t>
            </a:r>
          </a:p>
          <a:p>
            <a:pPr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</a:pPr>
            <a:r>
              <a:rPr kumimoji="0" lang="en-US" altLang="en-US" sz="29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company's lack of established data standards, despite its growth, put it at danger for </a:t>
            </a:r>
          </a:p>
          <a:p>
            <a:pPr marL="0" indent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kumimoji="0" lang="en-US" altLang="en-US" sz="29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ineffective operations, ambiguous performance measurements, and possible financial loss.</a:t>
            </a:r>
          </a:p>
          <a:p>
            <a:pPr marL="0" indent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endParaRPr lang="en-US" alt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kumimoji="0" lang="en-US" altLang="en-US" sz="29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SIGNIFICANCE</a:t>
            </a:r>
          </a:p>
          <a:p>
            <a:pPr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</a:pPr>
            <a:r>
              <a:rPr kumimoji="0" lang="en-US" altLang="en-US" sz="29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Sustainability and e-commerce are two significant themes that </a:t>
            </a:r>
            <a:r>
              <a:rPr kumimoji="0" lang="en-US" altLang="en-US" sz="29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GreenLeaf</a:t>
            </a:r>
            <a:r>
              <a:rPr kumimoji="0" lang="en-US" altLang="en-US" sz="29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situated at the nexus </a:t>
            </a:r>
          </a:p>
          <a:p>
            <a:pPr marL="0" indent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kumimoji="0" lang="en-US" altLang="en-US" sz="29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of in an era of rising environmental consciousness and digital-first shopping. </a:t>
            </a:r>
          </a:p>
          <a:p>
            <a:pPr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</a:pPr>
            <a:r>
              <a:rPr kumimoji="0" lang="en-US" altLang="en-US" sz="29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GreenLeaf</a:t>
            </a:r>
            <a:r>
              <a:rPr kumimoji="0" lang="en-US" altLang="en-US" sz="29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has the potential to dominate its market and grow rapidly with the correct data</a:t>
            </a:r>
          </a:p>
          <a:p>
            <a:pPr marL="0" indent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kumimoji="0" lang="en-US" altLang="en-US" sz="29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infrastructure and insight tools.</a:t>
            </a:r>
          </a:p>
          <a:p>
            <a:pPr marL="0" indent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br>
              <a:rPr kumimoji="0" lang="en-US" altLang="en-US" sz="29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sz="29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5E903E-CA42-5D40-097A-215A269D9C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08" r="7108"/>
          <a:stretch/>
        </p:blipFill>
        <p:spPr>
          <a:xfrm>
            <a:off x="9926421" y="-117017"/>
            <a:ext cx="1541008" cy="1270000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831264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A5ACD-77B9-7B63-7BD5-012348FB8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561" y="452718"/>
            <a:ext cx="11399520" cy="614082"/>
          </a:xfrm>
        </p:spPr>
        <p:txBody>
          <a:bodyPr/>
          <a:lstStyle/>
          <a:p>
            <a:r>
              <a:rPr lang="en-US" sz="3000" dirty="0"/>
              <a:t>MAJOR PROBLEM OF THE GREENLEAF STORE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AFCBB42-3D91-DDED-8972-80CC5F5198C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15925" y="-503062"/>
            <a:ext cx="11529759" cy="840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main issue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GreenLeaf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dealing with is: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 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aking decisions without following a methodical, data-driven process. This shows up in a number of important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ways: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chaos: Raw data that is unstructured, inconsistent, and lacking (e.g., mixed casing, missing prices).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Absence of KPIs Crucial metrics like revenue trends, product performance, and delivery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effectiveness are not visible to leadership.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Manual reporting: Because reports were created on the fly, they were ineffective, inconsistent,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 prone to mistakes.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Reactive decision-making: Instead of using data to inform judgments, guesswork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was used in the absence of real-time insights.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24182D-9AB9-0CA5-6692-65BE89BFF0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08" r="7108"/>
          <a:stretch/>
        </p:blipFill>
        <p:spPr>
          <a:xfrm>
            <a:off x="10289309" y="0"/>
            <a:ext cx="894080" cy="1137920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7445640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DC6A4-74B4-7276-A89D-79F6A3910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452718"/>
            <a:ext cx="11454937" cy="1051886"/>
          </a:xfrm>
        </p:spPr>
        <p:txBody>
          <a:bodyPr/>
          <a:lstStyle/>
          <a:p>
            <a:r>
              <a:rPr lang="en-US" sz="3000" dirty="0"/>
              <a:t>Objective of the Analysis – </a:t>
            </a:r>
            <a:r>
              <a:rPr lang="en-US" sz="3000" dirty="0" err="1"/>
              <a:t>GreenLeaf</a:t>
            </a:r>
            <a:r>
              <a:rPr lang="en-US" sz="3000" dirty="0"/>
              <a:t> Capstone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3F1A7D-F5B4-4D44-4589-32060FC2D0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20" y="1172095"/>
            <a:ext cx="11629505" cy="5394961"/>
          </a:xfrm>
        </p:spPr>
        <p:txBody>
          <a:bodyPr/>
          <a:lstStyle/>
          <a:p>
            <a:r>
              <a:rPr lang="en-US" b="1" dirty="0"/>
              <a:t>Specific Goals of the Analysis: Clean &amp; Structure the Data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dirty="0"/>
              <a:t>Defining Key Performance Indicators (KPIs)</a:t>
            </a:r>
            <a:endParaRPr lang="en-US" b="1" dirty="0"/>
          </a:p>
          <a:p>
            <a:endParaRPr lang="en-US" dirty="0"/>
          </a:p>
          <a:p>
            <a:r>
              <a:rPr lang="en-US" dirty="0"/>
              <a:t> Building a Dynamic Excel Dashboard</a:t>
            </a:r>
          </a:p>
          <a:p>
            <a:endParaRPr lang="en-US" dirty="0"/>
          </a:p>
          <a:p>
            <a:r>
              <a:rPr lang="en-US" dirty="0"/>
              <a:t>Generate Actionable Insights</a:t>
            </a:r>
          </a:p>
          <a:p>
            <a:endParaRPr lang="en-US" dirty="0"/>
          </a:p>
          <a:p>
            <a:r>
              <a:rPr lang="en-US" dirty="0"/>
              <a:t>Strategic Intent and Recommendation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D74968-F6CD-1322-8DF9-BCE62C2EFD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08" r="7108"/>
          <a:stretch/>
        </p:blipFill>
        <p:spPr>
          <a:xfrm>
            <a:off x="10759441" y="212301"/>
            <a:ext cx="1158239" cy="878515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6657941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F10BB-2216-542F-F03A-5432A8188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70223-AC61-597E-6B77-49FADD2FF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509" y="452718"/>
            <a:ext cx="11396749" cy="636249"/>
          </a:xfrm>
        </p:spPr>
        <p:txBody>
          <a:bodyPr/>
          <a:lstStyle/>
          <a:p>
            <a:r>
              <a:rPr lang="en-US" sz="3000"/>
              <a:t>Specific Goals of the Analysis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54E2C6-A38F-5524-37C9-CD9B38813B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2509" y="1263536"/>
            <a:ext cx="11313621" cy="5141746"/>
          </a:xfrm>
        </p:spPr>
        <p:txBody>
          <a:bodyPr>
            <a:normAutofit/>
          </a:bodyPr>
          <a:lstStyle/>
          <a:p>
            <a:r>
              <a:rPr lang="en-US" b="1">
                <a:latin typeface="Georgia" panose="02040502050405020303" pitchFamily="18" charset="0"/>
              </a:rPr>
              <a:t>Clean &amp; Structure the Data</a:t>
            </a:r>
            <a:endParaRPr lang="en-US">
              <a:latin typeface="Georgia" panose="02040502050405020303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/>
              <a:t>Standardize inconsistent fields (product names, customer names).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/>
              <a:t>Handle missing values  (unit prices per quantity, unit cost per Quantity).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/>
              <a:t>Add derived fields (Gross profit, monthly breakdowns ).</a:t>
            </a:r>
          </a:p>
          <a:p>
            <a:r>
              <a:rPr lang="en-US" b="1">
                <a:latin typeface="Georgia" panose="02040502050405020303" pitchFamily="18" charset="0"/>
                <a:cs typeface="Times New Roman" panose="02020603050405020304" pitchFamily="18" charset="0"/>
              </a:rPr>
              <a:t>Defining Key Performance Indicators (KPIs)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b="1">
                <a:latin typeface="Georgia" panose="02040502050405020303" pitchFamily="18" charset="0"/>
                <a:cs typeface="Times New Roman" panose="02020603050405020304" pitchFamily="18" charset="0"/>
              </a:rPr>
              <a:t> Total Order </a:t>
            </a:r>
            <a:r>
              <a:rPr lang="en-US" sz="1800"/>
              <a:t>: 1,000</a:t>
            </a:r>
            <a:endParaRPr lang="en-US" sz="1800" b="1">
              <a:latin typeface="Georgia" panose="02040502050405020303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b="1">
                <a:latin typeface="Georgia" panose="02040502050405020303" pitchFamily="18" charset="0"/>
                <a:cs typeface="Times New Roman" panose="02020603050405020304" pitchFamily="18" charset="0"/>
              </a:rPr>
              <a:t> Total Revenue: </a:t>
            </a:r>
            <a:r>
              <a:rPr lang="en-US" sz="1800"/>
              <a:t>$117,278</a:t>
            </a:r>
            <a:endParaRPr lang="en-US" sz="1800" b="1">
              <a:latin typeface="Georgia" panose="02040502050405020303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b="1">
                <a:latin typeface="Georgia" panose="02040502050405020303" pitchFamily="18" charset="0"/>
                <a:cs typeface="Times New Roman" panose="02020603050405020304" pitchFamily="18" charset="0"/>
              </a:rPr>
              <a:t>Average Order Value: </a:t>
            </a:r>
            <a:r>
              <a:rPr lang="en-US" sz="1800"/>
              <a:t>$21.40</a:t>
            </a:r>
            <a:endParaRPr lang="en-US" sz="1800" b="1">
              <a:latin typeface="Georgia" panose="02040502050405020303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b="1">
                <a:latin typeface="Georgia" panose="02040502050405020303" pitchFamily="18" charset="0"/>
                <a:cs typeface="Times New Roman" panose="02020603050405020304" pitchFamily="18" charset="0"/>
              </a:rPr>
              <a:t>Total Unit cost:  </a:t>
            </a:r>
            <a:r>
              <a:rPr lang="en-US" sz="1800"/>
              <a:t>$35,425</a:t>
            </a:r>
            <a:endParaRPr lang="en-US" sz="1800" b="1">
              <a:latin typeface="Georgia" panose="02040502050405020303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b="1">
                <a:latin typeface="Georgia" panose="02040502050405020303" pitchFamily="18" charset="0"/>
                <a:cs typeface="Times New Roman" panose="02020603050405020304" pitchFamily="18" charset="0"/>
              </a:rPr>
              <a:t> Gross Profit: </a:t>
            </a:r>
            <a:r>
              <a:rPr lang="en-US" sz="1800"/>
              <a:t>$81,853</a:t>
            </a:r>
            <a:endParaRPr lang="en-US" sz="1800" b="1">
              <a:latin typeface="Georgia" panose="02040502050405020303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b="1">
                <a:latin typeface="Georgia" panose="02040502050405020303" pitchFamily="18" charset="0"/>
                <a:cs typeface="Times New Roman" panose="02020603050405020304" pitchFamily="18" charset="0"/>
              </a:rPr>
              <a:t>Delivery Rate : 60.2%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b="1">
                <a:latin typeface="Georgia" panose="02040502050405020303" pitchFamily="18" charset="0"/>
                <a:cs typeface="Times New Roman" panose="02020603050405020304" pitchFamily="18" charset="0"/>
              </a:rPr>
              <a:t>Monthly Revenue Trend: </a:t>
            </a:r>
            <a:r>
              <a:rPr lang="en-US" sz="1600"/>
              <a:t>Revenue grows steadily from Jan–Apr, Slight dip in May,</a:t>
            </a:r>
            <a:endParaRPr lang="en-US" sz="1800" b="1">
              <a:latin typeface="Georgia" panose="02040502050405020303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b="1">
              <a:latin typeface="Georgia" panose="02040502050405020303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55E24D-06C8-193F-A35D-33445873AC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08" r="7108"/>
          <a:stretch/>
        </p:blipFill>
        <p:spPr>
          <a:xfrm>
            <a:off x="10061193" y="-6398"/>
            <a:ext cx="1584938" cy="1367838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9254809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7E6F7-CAC6-D3F5-F6A9-3C8DCF86C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077" y="66676"/>
            <a:ext cx="11525248" cy="695324"/>
          </a:xfrm>
        </p:spPr>
        <p:txBody>
          <a:bodyPr/>
          <a:lstStyle/>
          <a:p>
            <a:r>
              <a:rPr lang="en-US" sz="3500" b="1" dirty="0">
                <a:latin typeface="Georgia" panose="02040502050405020303" pitchFamily="18" charset="0"/>
              </a:rPr>
              <a:t>GREENLEAF DASHBOARD</a:t>
            </a:r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D8EF14D5-C06D-04E0-1487-E12D38158D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075" y="955040"/>
            <a:ext cx="11891645" cy="5679439"/>
          </a:xfrm>
        </p:spPr>
      </p:pic>
    </p:spTree>
    <p:extLst>
      <p:ext uri="{BB962C8B-B14F-4D97-AF65-F5344CB8AC3E}">
        <p14:creationId xmlns:p14="http://schemas.microsoft.com/office/powerpoint/2010/main" val="4742137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63B7A-BBBF-69DA-E0D7-D28F65DF7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F113B-8B94-6400-0309-95A8794FE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509" y="452718"/>
            <a:ext cx="11396749" cy="636249"/>
          </a:xfrm>
        </p:spPr>
        <p:txBody>
          <a:bodyPr/>
          <a:lstStyle/>
          <a:p>
            <a:r>
              <a:rPr lang="en-US" sz="3000" dirty="0"/>
              <a:t>Critical Analysis &amp; Insights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027F4-E60E-C739-3A2F-24B527E7AC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2509" y="1263536"/>
            <a:ext cx="11313621" cy="5141746"/>
          </a:xfrm>
        </p:spPr>
        <p:txBody>
          <a:bodyPr>
            <a:normAutofit/>
          </a:bodyPr>
          <a:lstStyle/>
          <a:p>
            <a:r>
              <a:rPr lang="en-US" b="1" dirty="0"/>
              <a:t>Strengths: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Profit margin</a:t>
            </a:r>
            <a:r>
              <a:rPr lang="en-US" dirty="0"/>
              <a:t> is strong (nearly 70%).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Rapid data transformation capabilities with Excel.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Defined, actionable KPIs to guide leadership.</a:t>
            </a:r>
          </a:p>
          <a:p>
            <a:r>
              <a:rPr lang="en-US" b="1" dirty="0"/>
              <a:t>Gaps / Risks: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May revenue dip</a:t>
            </a:r>
            <a:r>
              <a:rPr lang="en-US" dirty="0"/>
              <a:t> needs root-cause analysis.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Customer-level insights (e.g., repeat purchases, churn) not clearly visualized.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Shipment status like </a:t>
            </a:r>
            <a:r>
              <a:rPr lang="en-US" b="1" dirty="0"/>
              <a:t>returns</a:t>
            </a:r>
            <a:r>
              <a:rPr lang="en-US" dirty="0"/>
              <a:t> and </a:t>
            </a:r>
            <a:r>
              <a:rPr lang="en-US" b="1" dirty="0"/>
              <a:t>pending</a:t>
            </a:r>
            <a:r>
              <a:rPr lang="en-US" dirty="0"/>
              <a:t> could erode margins.</a:t>
            </a:r>
          </a:p>
          <a:p>
            <a:r>
              <a:rPr lang="en-US" dirty="0"/>
              <a:t> </a:t>
            </a:r>
            <a:r>
              <a:rPr lang="en-US" b="1" dirty="0"/>
              <a:t>Actionable Insights: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Leadership can now make </a:t>
            </a:r>
            <a:r>
              <a:rPr lang="en-US" b="1" dirty="0"/>
              <a:t>data-backed decisions</a:t>
            </a:r>
            <a:r>
              <a:rPr lang="en-US" dirty="0"/>
              <a:t> on pricing, inventory, marketing, and logistics.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Reduced reliance on instinct or ad hoc spreadsheets.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B54C72-BB34-BF66-60BC-FD4EF6463C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08" r="7108"/>
          <a:stretch/>
        </p:blipFill>
        <p:spPr>
          <a:xfrm>
            <a:off x="10160021" y="0"/>
            <a:ext cx="1351259" cy="1188720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6726037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1683DC-1FF9-F3F0-71BD-EF631F874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65AC7D1-EAA9-48F5-B509-60A7F50BF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6320AF9-619A-4175-865B-5663E1AE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63B6EC6-D752-4EE7-908B-F8F19E8C7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953376" y="0"/>
            <a:ext cx="12192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FECD4E8-AD3E-4228-82A2-9461958EA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2133042" y="3681413"/>
            <a:ext cx="4763558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23">
            <a:extLst>
              <a:ext uri="{FF2B5EF4-FFF2-40B4-BE49-F238E27FC236}">
                <a16:creationId xmlns:a16="http://schemas.microsoft.com/office/drawing/2014/main" id="{7E018740-5C2B-4A41-AC1A-7E68D1EC1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24631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Rectangle 25">
            <a:extLst>
              <a:ext uri="{FF2B5EF4-FFF2-40B4-BE49-F238E27FC236}">
                <a16:creationId xmlns:a16="http://schemas.microsoft.com/office/drawing/2014/main" id="{166F75A4-C475-4941-8EE2-B80A06A2C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6597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A032553A-72E8-4B0D-8405-FF9771C9A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5488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Rectangle 27">
            <a:extLst>
              <a:ext uri="{FF2B5EF4-FFF2-40B4-BE49-F238E27FC236}">
                <a16:creationId xmlns:a16="http://schemas.microsoft.com/office/drawing/2014/main" id="{765800AC-C3B9-498E-87BC-29FAE4C7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7655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1F9D6ACB-2FF4-49F9-978A-E0D5327FC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14821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42BFA2A-77A0-4F60-A32A-685681C848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82154" y="-8467"/>
            <a:ext cx="7109846" cy="6866467"/>
          </a:xfrm>
          <a:custGeom>
            <a:avLst/>
            <a:gdLst>
              <a:gd name="connsiteX0" fmla="*/ 0 w 7109846"/>
              <a:gd name="connsiteY0" fmla="*/ 0 h 6866467"/>
              <a:gd name="connsiteX1" fmla="*/ 1249825 w 7109846"/>
              <a:gd name="connsiteY1" fmla="*/ 0 h 6866467"/>
              <a:gd name="connsiteX2" fmla="*/ 1249825 w 7109846"/>
              <a:gd name="connsiteY2" fmla="*/ 8467 h 6866467"/>
              <a:gd name="connsiteX3" fmla="*/ 7109846 w 7109846"/>
              <a:gd name="connsiteY3" fmla="*/ 8467 h 6866467"/>
              <a:gd name="connsiteX4" fmla="*/ 7109846 w 7109846"/>
              <a:gd name="connsiteY4" fmla="*/ 6866467 h 6866467"/>
              <a:gd name="connsiteX5" fmla="*/ 1249825 w 7109846"/>
              <a:gd name="connsiteY5" fmla="*/ 6866467 h 6866467"/>
              <a:gd name="connsiteX6" fmla="*/ 1109382 w 7109846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09846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7109846" y="8467"/>
                </a:lnTo>
                <a:lnTo>
                  <a:pt x="7109846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70DB80-3041-9983-61CC-8266E9ED0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599"/>
            <a:ext cx="3843375" cy="5545667"/>
          </a:xfrm>
        </p:spPr>
        <p:txBody>
          <a:bodyPr anchor="ctr">
            <a:normAutofit/>
          </a:bodyPr>
          <a:lstStyle/>
          <a:p>
            <a:r>
              <a:rPr lang="en-US" sz="3300">
                <a:solidFill>
                  <a:schemeClr val="tx1">
                    <a:lumMod val="85000"/>
                    <a:lumOff val="15000"/>
                  </a:schemeClr>
                </a:solidFill>
              </a:rPr>
              <a:t>REC0MMENDATION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220C0C-2B8D-BA09-105B-E01592F70E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3733" y="264160"/>
            <a:ext cx="7436987" cy="6268720"/>
          </a:xfrm>
        </p:spPr>
        <p:txBody>
          <a:bodyPr anchor="ctr"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Investigate May Dip</a:t>
            </a:r>
            <a:r>
              <a:rPr lang="en-US" dirty="0">
                <a:solidFill>
                  <a:srgbClr val="FFFFFF"/>
                </a:solidFill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FF"/>
                </a:solidFill>
              </a:rPr>
              <a:t>Analyzing product returns or inventory issues.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FF"/>
                </a:solidFill>
              </a:rPr>
              <a:t>Reviewing marketing spend or delivery delays in that month.</a:t>
            </a:r>
          </a:p>
          <a:p>
            <a:r>
              <a:rPr lang="en-US" b="1" dirty="0">
                <a:solidFill>
                  <a:srgbClr val="FFFFFF"/>
                </a:solidFill>
              </a:rPr>
              <a:t>Enhance Customer Segmentation</a:t>
            </a:r>
            <a:r>
              <a:rPr lang="en-US" dirty="0">
                <a:solidFill>
                  <a:srgbClr val="FFFFFF"/>
                </a:solidFill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FF"/>
                </a:solidFill>
              </a:rPr>
              <a:t>Identify high-value, repeat customers for targeted promotions.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FF"/>
                </a:solidFill>
              </a:rPr>
              <a:t>Add NPS/CSAT tracking.</a:t>
            </a:r>
          </a:p>
          <a:p>
            <a:r>
              <a:rPr lang="en-US" b="1" dirty="0">
                <a:solidFill>
                  <a:srgbClr val="FFFFFF"/>
                </a:solidFill>
              </a:rPr>
              <a:t>Expand Dashboard</a:t>
            </a:r>
            <a:r>
              <a:rPr lang="en-US" dirty="0">
                <a:solidFill>
                  <a:srgbClr val="FFFFFF"/>
                </a:solidFill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FF"/>
                </a:solidFill>
              </a:rPr>
              <a:t>Include </a:t>
            </a:r>
            <a:r>
              <a:rPr lang="en-US" b="1" dirty="0">
                <a:solidFill>
                  <a:srgbClr val="FFFFFF"/>
                </a:solidFill>
              </a:rPr>
              <a:t>category-level performance</a:t>
            </a:r>
            <a:r>
              <a:rPr lang="en-US" dirty="0">
                <a:solidFill>
                  <a:srgbClr val="FFFFFF"/>
                </a:solidFill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FF"/>
                </a:solidFill>
              </a:rPr>
              <a:t>Add interactive filters (state, product category, shipment status).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FFFFFF"/>
                </a:solidFill>
              </a:rPr>
              <a:t> Automate Data Refresh</a:t>
            </a:r>
            <a:r>
              <a:rPr lang="en-US" dirty="0">
                <a:solidFill>
                  <a:srgbClr val="FFFFFF"/>
                </a:solidFill>
              </a:rPr>
              <a:t>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FFFFFF"/>
                </a:solidFill>
              </a:rPr>
              <a:t> Link Excel to a live data source for daily/weekly refresh.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solidFill>
                <a:srgbClr val="FFFFFF"/>
              </a:solidFill>
            </a:endParaRPr>
          </a:p>
          <a:p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0F28BD9-57CC-1DF6-FC7F-6EBA6F5954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08" r="7108"/>
          <a:stretch/>
        </p:blipFill>
        <p:spPr>
          <a:xfrm>
            <a:off x="11375443" y="20319"/>
            <a:ext cx="731520" cy="92456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28322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9FE88-90E8-6248-5FE1-4D76891584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800" y="581026"/>
            <a:ext cx="11267440" cy="5667374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7"/>
            <a:endParaRPr lang="en-US" dirty="0"/>
          </a:p>
          <a:p>
            <a:pPr marL="3200400" lvl="7" indent="0">
              <a:buNone/>
            </a:pPr>
            <a:endParaRPr lang="en-US" dirty="0"/>
          </a:p>
          <a:p>
            <a:pPr marL="3200400" lvl="7" indent="0">
              <a:buNone/>
            </a:pPr>
            <a:r>
              <a:rPr lang="en-US" sz="5000" dirty="0"/>
              <a:t>THANK YOU!!!!!!!!!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4F923C-B5F5-8558-0142-BB9FB8E494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08" r="7108"/>
          <a:stretch/>
        </p:blipFill>
        <p:spPr>
          <a:xfrm>
            <a:off x="10000211" y="1"/>
            <a:ext cx="1399309" cy="1473200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29920388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Custom 4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1_Ion">
  <a:themeElements>
    <a:clrScheme name="Ion">
      <a:dk1>
        <a:sysClr val="windowText" lastClr="000000"/>
      </a:dk1>
      <a:lt1>
        <a:sysClr val="window" lastClr="FFFFFF"/>
      </a:lt1>
      <a:dk2>
        <a:srgbClr val="EE5818"/>
      </a:dk2>
      <a:lt2>
        <a:srgbClr val="EBEBEB"/>
      </a:lt2>
      <a:accent1>
        <a:srgbClr val="F5A408"/>
      </a:accent1>
      <a:accent2>
        <a:srgbClr val="FA731A"/>
      </a:accent2>
      <a:accent3>
        <a:srgbClr val="AB9281"/>
      </a:accent3>
      <a:accent4>
        <a:srgbClr val="A18CD0"/>
      </a:accent4>
      <a:accent5>
        <a:srgbClr val="8EBBD2"/>
      </a:accent5>
      <a:accent6>
        <a:srgbClr val="ACC995"/>
      </a:accent6>
      <a:hlink>
        <a:srgbClr val="FAC96A"/>
      </a:hlink>
      <a:folHlink>
        <a:srgbClr val="FCDB9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04000"/>
                <a:satMod val="128000"/>
                <a:lumMod val="10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68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2000"/>
                <a:hueMod val="42000"/>
                <a:satMod val="124000"/>
                <a:lumMod val="62000"/>
              </a:schemeClr>
              <a:schemeClr val="phClr">
                <a:tint val="96000"/>
                <a:satMod val="13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5A2F9111-B2DB-470C-BA56-608F9B658826}"/>
    </a:ext>
  </a:extLst>
</a:theme>
</file>

<file path=ppt/theme/theme3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ppt/theme/theme4.xml><?xml version="1.0" encoding="utf-8"?>
<a:theme xmlns:a="http://schemas.openxmlformats.org/drawingml/2006/main" name="2_Ion">
  <a:themeElements>
    <a:clrScheme name="Ion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EC76B5"/>
      </a:hlink>
      <a:folHlink>
        <a:srgbClr val="E8ACCD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A207AED3-9ABC-4A18-9978-A59B65688B15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10</TotalTime>
  <Words>710</Words>
  <Application>Microsoft Office PowerPoint</Application>
  <PresentationFormat>Widescreen</PresentationFormat>
  <Paragraphs>119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10</vt:i4>
      </vt:variant>
    </vt:vector>
  </HeadingPairs>
  <TitlesOfParts>
    <vt:vector size="22" baseType="lpstr">
      <vt:lpstr>Aptos</vt:lpstr>
      <vt:lpstr>Arial</vt:lpstr>
      <vt:lpstr>Century Gothic</vt:lpstr>
      <vt:lpstr>Georgia</vt:lpstr>
      <vt:lpstr>Times New Roman</vt:lpstr>
      <vt:lpstr>Trebuchet MS</vt:lpstr>
      <vt:lpstr>Wingdings</vt:lpstr>
      <vt:lpstr>Wingdings 3</vt:lpstr>
      <vt:lpstr>Ion</vt:lpstr>
      <vt:lpstr>1_Ion</vt:lpstr>
      <vt:lpstr>Facet</vt:lpstr>
      <vt:lpstr>2_Ion</vt:lpstr>
      <vt:lpstr>GREENLEAF PROJECT BY ADEBAYO ADEDIRAN DAVID</vt:lpstr>
      <vt:lpstr>OVERVIEW OF GREENLEAF BUSINESS</vt:lpstr>
      <vt:lpstr>KEY CHARACTERISTICS</vt:lpstr>
      <vt:lpstr>MAJOR PROBLEM OF THE GREENLEAF STORE</vt:lpstr>
      <vt:lpstr>Objective of the Analysis – GreenLeaf Capstone Project</vt:lpstr>
      <vt:lpstr>Specific Goals of the Analysis</vt:lpstr>
      <vt:lpstr>GREENLEAF DASHBOARD</vt:lpstr>
      <vt:lpstr>Critical Analysis &amp; Insights</vt:lpstr>
      <vt:lpstr>REC0MMENDATION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Adediran David Adebayo</dc:creator>
  <cp:lastModifiedBy>Adediran David Adebayo</cp:lastModifiedBy>
  <cp:revision>3</cp:revision>
  <dcterms:created xsi:type="dcterms:W3CDTF">2025-02-15T17:27:41Z</dcterms:created>
  <dcterms:modified xsi:type="dcterms:W3CDTF">2025-09-09T11:36:10Z</dcterms:modified>
</cp:coreProperties>
</file>